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4"/>
  </p:notesMasterIdLst>
  <p:sldIdLst>
    <p:sldId id="1298" r:id="rId2"/>
    <p:sldId id="1302" r:id="rId3"/>
    <p:sldId id="1303" r:id="rId4"/>
    <p:sldId id="1304" r:id="rId5"/>
    <p:sldId id="1307" r:id="rId6"/>
    <p:sldId id="1311" r:id="rId7"/>
    <p:sldId id="1306" r:id="rId8"/>
    <p:sldId id="1308" r:id="rId9"/>
    <p:sldId id="267" r:id="rId10"/>
    <p:sldId id="1310" r:id="rId11"/>
    <p:sldId id="1312" r:id="rId12"/>
    <p:sldId id="271" r:id="rId13"/>
  </p:sldIdLst>
  <p:sldSz cx="12192000" cy="6858000"/>
  <p:notesSz cx="12192000" cy="6858000"/>
  <p:custDataLst>
    <p:tags r:id="rId15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4" orient="horz" pos="9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9BF30E-20C8-9208-5630-99B93775582F}" name="Neha Maheshwari" initials="NM" userId="S::neha@edunetfoundation.org::8c84accf-0c37-4353-a3c4-b0578e30e5e4" providerId="AD"/>
  <p188:author id="{BD458232-9C64-883B-B2F5-BCAB8DE971E8}" name="Harkiran Kaur Sitara" initials="HS" userId="S::hkaur@edunetfoundation.org::6d6a57b8-bd9a-471a-8916-dfd72a492427" providerId="AD"/>
  <p188:author id="{78B32D43-D2AB-B8CA-37BA-5E9C3DA551F3}" name="Rashmi Vohra" initials="RV" userId="S::rashmi@edunetfoundation.org::dd83c91e-93ca-49ae-a15c-c42dcb61dd1f" providerId="AD"/>
  <p188:author id="{BA51AE4F-61DD-94CA-CD1C-118C96695E29}" name="Serena Joseph" initials="SJ" userId="S::sjoseph@edunetfoundation.org::fec52140-248b-4b05-a802-736c5c36ed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63"/>
    <a:srgbClr val="FFC509"/>
    <a:srgbClr val="FFF3CD"/>
    <a:srgbClr val="3333FF"/>
    <a:srgbClr val="DFEEFD"/>
    <a:srgbClr val="55A3F3"/>
    <a:srgbClr val="A4A3A4"/>
    <a:srgbClr val="629AF4"/>
    <a:srgbClr val="E67450"/>
    <a:srgbClr val="EB4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>
        <p:guide orient="horz" pos="1512"/>
        <p:guide pos="312"/>
        <p:guide orient="horz" pos="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DA4AA-0FF9-453D-94EE-83C1792FCA55}" type="datetimeFigureOut">
              <a:rPr lang="en-IN" smtClean="0"/>
              <a:t>22-03-26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60CB1-A81F-4EE9-B081-19C290D46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8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091F-CDAA-02D2-C005-8C8DE5A9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BD7E5-D933-E5F7-D072-E39FDE87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70718-A33A-A493-3DD6-D0F89C941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r>
              <a:rPr lang="en-US" b="1"/>
              <a:t>Objective: To get an insight about Design Thinking</a:t>
            </a:r>
            <a:endParaRPr lang="en-US"/>
          </a:p>
          <a:p>
            <a:r>
              <a:rPr lang="en-US" b="1"/>
              <a:t>Procedure:</a:t>
            </a:r>
            <a:endParaRPr lang="en-US"/>
          </a:p>
          <a:p>
            <a:r>
              <a:rPr lang="en-US" b="1"/>
              <a:t>Explanation:</a:t>
            </a:r>
            <a:endParaRPr lang="en-US" b="1">
              <a:cs typeface="Calibri"/>
            </a:endParaRPr>
          </a:p>
          <a:p>
            <a:r>
              <a:rPr lang="en-US" b="1"/>
              <a:t>Introduce the topic "Design Thinking"</a:t>
            </a:r>
            <a:r>
              <a:rPr lang="en-US"/>
              <a:t> </a:t>
            </a:r>
            <a:endParaRPr lang="en-US"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Design thinking is a creative approach to problem-solving that puts people at the center. </a:t>
            </a:r>
            <a:endParaRPr 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It starts with understanding the needs of those who will use what you're designing.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Then, it involves brainstorming ideas, prototyping solutions, and testing them to see what works best.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It's about being open-minded, collaborative, and willing to try new things to come up with innovative solutions that really fit people's needs.</a:t>
            </a:r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r>
              <a:rPr lang="en-US" b="1"/>
              <a:t>Learning outcome: Students will be introduced to the topic Design Thinking.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CDB7-E329-CB0C-39AB-3AC7E1A8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5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9506-C131-2AF6-29D0-70FA3166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DC8E4-9EC8-9053-EB93-6F6DD2F29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D1FAE-0157-77E2-17BE-06C6C650F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know the content of the lesson.</a:t>
            </a:r>
            <a:endParaRPr lang="en-US"/>
          </a:p>
          <a:p>
            <a:endParaRPr lang="en-US" b="1"/>
          </a:p>
          <a:p>
            <a:r>
              <a:rPr lang="en-US" b="1"/>
              <a:t>Procedure: </a:t>
            </a:r>
            <a:endParaRPr lang="en-US"/>
          </a:p>
          <a:p>
            <a:r>
              <a:rPr lang="en-US" b="1"/>
              <a:t>Tell students what they are going to learn today.</a:t>
            </a:r>
            <a:endParaRPr lang="en-US"/>
          </a:p>
          <a:p>
            <a:r>
              <a:rPr lang="en-US" b="1"/>
              <a:t>Discuss each topics given in the slide.</a:t>
            </a:r>
            <a:endParaRPr lang="en-US"/>
          </a:p>
          <a:p>
            <a:endParaRPr lang="en-US" b="1"/>
          </a:p>
          <a:p>
            <a:r>
              <a:rPr lang="en-US" b="1"/>
              <a:t>Learning Outcome: Students will get to know the content of today's lesson.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AA5B-2BE1-BDC2-9CC2-995FA82C7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12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C8DF-C6CD-4928-1CA4-086D4550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AD002-62F8-8916-593B-343E5F05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13043-DFE7-63A6-38A6-E5C26B8A1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8DE7-C418-84FE-C67C-74B981A52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70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D8AC-D7EB-7BDB-1084-83AC7711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F1DC3-98E6-7C3B-86DB-099D77CF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B4D31-DCBC-14BB-E02F-EAFCAD095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AF935-E999-82B4-036C-A4AF6A677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72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C7F5-F21B-DECC-F78B-E750E311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F32E1-B0F8-950E-7D68-215FAF2A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6042-08C9-4092-7FAF-A2C3F478B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Total duration:</a:t>
            </a:r>
            <a:r>
              <a:rPr lang="en-US" dirty="0"/>
              <a:t> 5mins</a:t>
            </a:r>
          </a:p>
          <a:p>
            <a:r>
              <a:rPr lang="en-US" b="1" dirty="0"/>
              <a:t>Learning Objective:  </a:t>
            </a:r>
            <a:r>
              <a:rPr lang="en-US" dirty="0"/>
              <a:t>In this slide, the trainer will explain the students what they will learn and be able to apply in the real life situations.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b="1" dirty="0"/>
              <a:t>Procedure: </a:t>
            </a:r>
            <a:r>
              <a:rPr lang="en-US" dirty="0"/>
              <a:t>Discuss the above as the outcome of the session</a:t>
            </a:r>
            <a:endParaRPr lang="en-US" dirty="0">
              <a:cs typeface="Calibri"/>
            </a:endParaRPr>
          </a:p>
          <a:p>
            <a:endParaRPr lang="en-US" dirty="0"/>
          </a:p>
          <a:p>
            <a:r>
              <a:rPr lang="en-US" b="1" dirty="0"/>
              <a:t>Learning outcome:</a:t>
            </a:r>
            <a:r>
              <a:rPr lang="en-US" dirty="0"/>
              <a:t> Students will understand the</a:t>
            </a:r>
            <a:r>
              <a:rPr lang="en-US" baseline="0" dirty="0"/>
              <a:t> learning </a:t>
            </a:r>
            <a:r>
              <a:rPr lang="en-US" dirty="0"/>
              <a:t>outcome</a:t>
            </a:r>
            <a:r>
              <a:rPr lang="en-US" baseline="0" dirty="0"/>
              <a:t> in this slide.</a:t>
            </a:r>
            <a:endParaRPr lang="en-US" dirty="0"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91EB-67D2-C956-FCA2-A383DE41E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8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5888-2BBD-BE64-9FA7-8AF1F5E02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F79C-68D0-6EA3-3E12-A518D83D2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18665-CB16-50F7-C752-3BB7E7738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47D9C-2BDF-3806-C567-276D5552F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041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C2A-D27F-A08C-A9F7-F097CBC8F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D24A9-904E-EDBE-00A4-18754A244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D7F0F2-1B91-747F-AA12-4852DC4F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C5A9D-BAC7-353F-EB58-8AF7CB512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8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3B37-E957-FF5C-2010-892346C7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B2A7C-31A2-F0CA-A496-0C4F82962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81AD3F-FB8D-7143-4B71-4EE10CA19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B922E-83A2-014C-DA79-4805012C8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19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duration: 5 min</a:t>
            </a:r>
            <a:endParaRPr lang="en-US"/>
          </a:p>
          <a:p>
            <a:endParaRPr lang="en-US" b="1"/>
          </a:p>
          <a:p>
            <a:r>
              <a:rPr lang="en-US" b="1"/>
              <a:t>Objective: To get clarity about the lesson is well received among students.</a:t>
            </a:r>
            <a:endParaRPr lang="en-US">
              <a:cs typeface="Calibri"/>
            </a:endParaRPr>
          </a:p>
          <a:p>
            <a:endParaRPr lang="en-US" b="1"/>
          </a:p>
          <a:p>
            <a:r>
              <a:rPr lang="en-US" b="1"/>
              <a:t>Procedure: </a:t>
            </a:r>
            <a:endParaRPr lang="en-US">
              <a:cs typeface="Calibri"/>
            </a:endParaRPr>
          </a:p>
          <a:p>
            <a:r>
              <a:rPr lang="en-US" b="1"/>
              <a:t>Ask: What did you learn from the lesson?</a:t>
            </a:r>
            <a:endParaRPr lang="en-US"/>
          </a:p>
          <a:p>
            <a:r>
              <a:rPr lang="en-US" b="1"/>
              <a:t>What is your takeaways from the lesson?</a:t>
            </a:r>
            <a:endParaRPr lang="en-US"/>
          </a:p>
          <a:p>
            <a:r>
              <a:rPr lang="en-US" b="1"/>
              <a:t>How this lesson is going to help you in your personal and professional life.</a:t>
            </a:r>
            <a:endParaRPr lang="en-US"/>
          </a:p>
          <a:p>
            <a:r>
              <a:rPr lang="en-US" b="1"/>
              <a:t>How are you going to implement this lesson?</a:t>
            </a:r>
            <a:endParaRPr lang="en-US"/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14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31D5D-A06D-D42D-F2F2-A5ED0DA6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5EE4F-7900-BB8B-9722-48FDE0720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98C-3D03-E733-CAEA-D1FDE7165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Total duration:</a:t>
            </a:r>
            <a:r>
              <a:rPr lang="en-US"/>
              <a:t> 5mins</a:t>
            </a:r>
          </a:p>
          <a:p>
            <a:r>
              <a:rPr lang="en-US" b="1"/>
              <a:t>Learning Objective:  </a:t>
            </a:r>
            <a:r>
              <a:rPr lang="en-US"/>
              <a:t>In this slide, the trainer will explain the students what they will learn and be able to apply in the real life situations.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b="1"/>
              <a:t>Procedure: </a:t>
            </a:r>
            <a:r>
              <a:rPr lang="en-US"/>
              <a:t>Discuss the above as the outcome of the session</a:t>
            </a:r>
            <a:endParaRPr lang="en-US">
              <a:cs typeface="Calibri"/>
            </a:endParaRPr>
          </a:p>
          <a:p>
            <a:endParaRPr lang="en-US"/>
          </a:p>
          <a:p>
            <a:r>
              <a:rPr lang="en-US" b="1"/>
              <a:t>Learning outcome:</a:t>
            </a:r>
            <a:r>
              <a:rPr lang="en-US"/>
              <a:t> Students will understand the</a:t>
            </a:r>
            <a:r>
              <a:rPr lang="en-US" baseline="0"/>
              <a:t> learning </a:t>
            </a:r>
            <a:r>
              <a:rPr lang="en-US"/>
              <a:t>outcome</a:t>
            </a:r>
            <a:r>
              <a:rPr lang="en-US" baseline="0"/>
              <a:t> in this slide.</a:t>
            </a:r>
            <a:endParaRPr lang="en-US"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D04E-F33C-F197-E7F6-1C529EE3E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5E176-3771-4046-B4CA-5C8B252631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70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Time: </a:t>
            </a:r>
            <a:r>
              <a:rPr lang="en-US"/>
              <a:t>25 to 30 Sec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60CB1-A81F-4EE9-B081-19C290D4660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75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94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20306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24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6">
            <a:alphaModFix/>
          </a:blip>
          <a:srcRect/>
          <a:stretch/>
        </p:blipFill>
        <p:spPr>
          <a:xfrm>
            <a:off x="9293970" y="1161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94A6F2-3958-82D4-6DD8-BEA23BC7CE0B}"/>
              </a:ext>
            </a:extLst>
          </p:cNvPr>
          <p:cNvSpPr/>
          <p:nvPr userDrawn="1"/>
        </p:nvSpPr>
        <p:spPr>
          <a:xfrm>
            <a:off x="7283428" y="62784"/>
            <a:ext cx="1109472" cy="584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B0A9C-D4D0-4270-6567-BD2D62A37CB4}"/>
              </a:ext>
            </a:extLst>
          </p:cNvPr>
          <p:cNvSpPr/>
          <p:nvPr userDrawn="1"/>
        </p:nvSpPr>
        <p:spPr>
          <a:xfrm>
            <a:off x="-1" y="0"/>
            <a:ext cx="8791576" cy="695325"/>
          </a:xfrm>
          <a:prstGeom prst="rect">
            <a:avLst/>
          </a:prstGeom>
          <a:solidFill>
            <a:srgbClr val="21316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C22728B-18F8-AEF3-8871-561E9C3737AF}"/>
              </a:ext>
            </a:extLst>
          </p:cNvPr>
          <p:cNvSpPr/>
          <p:nvPr userDrawn="1"/>
        </p:nvSpPr>
        <p:spPr>
          <a:xfrm rot="7879934">
            <a:off x="7704457" y="483903"/>
            <a:ext cx="1735808" cy="8445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BE9A7-CD12-16D7-1936-B3E207021293}"/>
              </a:ext>
            </a:extLst>
          </p:cNvPr>
          <p:cNvSpPr txBox="1"/>
          <p:nvPr userDrawn="1"/>
        </p:nvSpPr>
        <p:spPr>
          <a:xfrm>
            <a:off x="400050" y="125730"/>
            <a:ext cx="78962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200" b="1">
                <a:solidFill>
                  <a:schemeClr val="bg1"/>
                </a:solidFill>
                <a:latin typeface="+mj-lt"/>
              </a:rPr>
              <a:t>Creating A Future-ready Workforce</a:t>
            </a:r>
          </a:p>
        </p:txBody>
      </p:sp>
      <p:pic>
        <p:nvPicPr>
          <p:cNvPr id="4" name="Picture 3" descr="A yellow triangle with black background&#10;&#10;AI-generated content may be incorrect.">
            <a:extLst>
              <a:ext uri="{FF2B5EF4-FFF2-40B4-BE49-F238E27FC236}">
                <a16:creationId xmlns:a16="http://schemas.microsoft.com/office/drawing/2014/main" id="{F2EDF266-FEEE-64FB-9F87-7CC86D1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74" b="43332"/>
          <a:stretch/>
        </p:blipFill>
        <p:spPr>
          <a:xfrm>
            <a:off x="11094195" y="-24407"/>
            <a:ext cx="1097805" cy="716023"/>
          </a:xfrm>
          <a:prstGeom prst="rect">
            <a:avLst/>
          </a:prstGeom>
        </p:spPr>
      </p:pic>
    </p:spTree>
    <p:custDataLst>
      <p:tags r:id="rId5"/>
    </p:custDataLst>
    <p:extLst>
      <p:ext uri="{BB962C8B-B14F-4D97-AF65-F5344CB8AC3E}">
        <p14:creationId xmlns:p14="http://schemas.microsoft.com/office/powerpoint/2010/main" val="1925772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www.flickr.com/photos/143106192@N03/29307455687/" TargetMode="External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hyperlink" Target="https://nl.headtopics.com/news/common-job-interview-phrases-to-avoid-and-how-to-reframe-64565038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s://www.bayjoinery.com/benefits-of-hiring-a-recruiting-agency/" TargetMode="Externa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hyperlink" Target="https://www.freepik.com/" TargetMode="Externa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BFCA35-CBAC-B371-5A9D-16CEF40A5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 descr="Three circles each containing concentric circles.">
            <a:extLst>
              <a:ext uri="{FF2B5EF4-FFF2-40B4-BE49-F238E27FC236}">
                <a16:creationId xmlns:a16="http://schemas.microsoft.com/office/drawing/2014/main" id="{2BB9B87E-CCB4-1C05-BDD7-49BD2F443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915" y="-754580"/>
            <a:ext cx="6985841" cy="69858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AFB906-E0C0-DE0E-8396-74F0D23A59D1}"/>
              </a:ext>
            </a:extLst>
          </p:cNvPr>
          <p:cNvSpPr/>
          <p:nvPr/>
        </p:nvSpPr>
        <p:spPr>
          <a:xfrm>
            <a:off x="0" y="1"/>
            <a:ext cx="2187103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C1F04-2B40-4D2E-6A1F-0A6A0E0ECE7F}"/>
              </a:ext>
            </a:extLst>
          </p:cNvPr>
          <p:cNvSpPr/>
          <p:nvPr/>
        </p:nvSpPr>
        <p:spPr>
          <a:xfrm>
            <a:off x="6227605" y="1664587"/>
            <a:ext cx="361400" cy="3726175"/>
          </a:xfrm>
          <a:prstGeom prst="rect">
            <a:avLst/>
          </a:prstGeom>
          <a:solidFill>
            <a:srgbClr val="FFC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Close-up of two people's hands pointing at laptop screen with stack of 4 books in background, one person holding a pen">
            <a:extLst>
              <a:ext uri="{FF2B5EF4-FFF2-40B4-BE49-F238E27FC236}">
                <a16:creationId xmlns:a16="http://schemas.microsoft.com/office/drawing/2014/main" id="{1753CBC7-1B60-ACAD-8449-1E02682C33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9" r="20650"/>
          <a:stretch/>
        </p:blipFill>
        <p:spPr>
          <a:xfrm flipH="1">
            <a:off x="564320" y="631080"/>
            <a:ext cx="5882641" cy="5735112"/>
          </a:xfrm>
          <a:prstGeom prst="rect">
            <a:avLst/>
          </a:prstGeom>
        </p:spPr>
      </p:pic>
      <p:pic>
        <p:nvPicPr>
          <p:cNvPr id="28" name="Picture 27" descr="A yellow sign with blue and black lines&#10;&#10;AI-generated content may be incorrect.">
            <a:extLst>
              <a:ext uri="{FF2B5EF4-FFF2-40B4-BE49-F238E27FC236}">
                <a16:creationId xmlns:a16="http://schemas.microsoft.com/office/drawing/2014/main" id="{A6445770-34AE-34D1-DF4B-2580AC172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231" y="619660"/>
            <a:ext cx="696004" cy="599966"/>
          </a:xfrm>
          <a:prstGeom prst="rect">
            <a:avLst/>
          </a:prstGeom>
        </p:spPr>
      </p:pic>
      <p:pic>
        <p:nvPicPr>
          <p:cNvPr id="29" name="Picture 28" descr="A close up of a logo&#10;&#10;AI-generated content may be incorrect.">
            <a:extLst>
              <a:ext uri="{FF2B5EF4-FFF2-40B4-BE49-F238E27FC236}">
                <a16:creationId xmlns:a16="http://schemas.microsoft.com/office/drawing/2014/main" id="{8F7F974D-2D1F-F052-896D-E000E0AF7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861" y="695122"/>
            <a:ext cx="1380636" cy="449042"/>
          </a:xfrm>
          <a:prstGeom prst="rect">
            <a:avLst/>
          </a:prstGeom>
        </p:spPr>
      </p:pic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AEA9CBA-CAFF-3524-2EE2-2718905945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131" y="642644"/>
            <a:ext cx="838995" cy="553998"/>
          </a:xfrm>
          <a:prstGeom prst="rect">
            <a:avLst/>
          </a:prstGeo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6A8BFA17-ACF5-21DA-81BC-A9A793A30FE6}"/>
              </a:ext>
            </a:extLst>
          </p:cNvPr>
          <p:cNvSpPr txBox="1"/>
          <p:nvPr/>
        </p:nvSpPr>
        <p:spPr>
          <a:xfrm>
            <a:off x="7041219" y="1384299"/>
            <a:ext cx="3309283" cy="219934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</a:rPr>
              <a:t>HR AI Shortlisting and </a:t>
            </a:r>
          </a:p>
          <a:p>
            <a:pPr algn="l">
              <a:lnSpc>
                <a:spcPct val="90000"/>
              </a:lnSpc>
            </a:pPr>
            <a:r>
              <a:rPr lang="en-US" sz="3000" b="1" dirty="0">
                <a:solidFill>
                  <a:srgbClr val="213163"/>
                </a:solidFill>
              </a:rPr>
              <a:t>Recruitment </a:t>
            </a:r>
            <a:endParaRPr lang="en-US" dirty="0">
              <a:solidFill>
                <a:srgbClr val="000000"/>
              </a:solidFill>
            </a:endParaRPr>
          </a:p>
          <a:p>
            <a:pPr algn="l">
              <a:lnSpc>
                <a:spcPct val="90000"/>
              </a:lnSpc>
            </a:pPr>
            <a:endParaRPr lang="en-US" dirty="0">
              <a:solidFill>
                <a:srgbClr val="213163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dirty="0">
                <a:solidFill>
                  <a:srgbClr val="213163"/>
                </a:solidFill>
              </a:rPr>
              <a:t>Team ID - </a:t>
            </a:r>
            <a:r>
              <a:rPr lang="en-IN" b="0" i="0" dirty="0">
                <a:solidFill>
                  <a:srgbClr val="212529"/>
                </a:solidFill>
                <a:effectLst/>
                <a:latin typeface="Roboto" panose="020F0502020204030204" pitchFamily="2" charset="0"/>
              </a:rPr>
              <a:t>CU_CP_Team_10574</a:t>
            </a:r>
            <a:endParaRPr lang="en-US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5B0D1-B06C-3466-28E3-04DA70D1A6AD}"/>
              </a:ext>
            </a:extLst>
          </p:cNvPr>
          <p:cNvSpPr txBox="1"/>
          <p:nvPr/>
        </p:nvSpPr>
        <p:spPr>
          <a:xfrm>
            <a:off x="7040990" y="4667682"/>
            <a:ext cx="474829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IN" dirty="0" err="1">
                <a:solidFill>
                  <a:srgbClr val="213163"/>
                </a:solidFill>
              </a:rPr>
              <a:t>Kenil</a:t>
            </a:r>
            <a:r>
              <a:rPr lang="en-IN" dirty="0">
                <a:solidFill>
                  <a:srgbClr val="213163"/>
                </a:solidFill>
              </a:rPr>
              <a:t> Lad (Team Leader)</a:t>
            </a:r>
          </a:p>
          <a:p>
            <a:pPr algn="l"/>
            <a:r>
              <a:rPr lang="en-IN" dirty="0">
                <a:solidFill>
                  <a:srgbClr val="213163"/>
                </a:solidFill>
              </a:rPr>
              <a:t>Mahesh Kumawat</a:t>
            </a:r>
          </a:p>
          <a:p>
            <a:pPr algn="l"/>
            <a:endParaRPr lang="en-IN" dirty="0">
              <a:solidFill>
                <a:srgbClr val="213163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282E5-EFA4-B42A-3002-A121095746EB}"/>
              </a:ext>
            </a:extLst>
          </p:cNvPr>
          <p:cNvSpPr txBox="1"/>
          <p:nvPr/>
        </p:nvSpPr>
        <p:spPr>
          <a:xfrm>
            <a:off x="7070131" y="5684082"/>
            <a:ext cx="4699247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1600" i="1" dirty="0">
              <a:solidFill>
                <a:srgbClr val="002060"/>
              </a:solidFill>
            </a:endParaRPr>
          </a:p>
          <a:p>
            <a:endParaRPr lang="en-IN" sz="1600" i="1" dirty="0">
              <a:solidFill>
                <a:srgbClr val="002060"/>
              </a:solidFill>
            </a:endParaRPr>
          </a:p>
          <a:p>
            <a:r>
              <a:rPr lang="en-IN" sz="1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mentorship of,</a:t>
            </a:r>
          </a:p>
          <a:p>
            <a:r>
              <a:rPr lang="en-US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M</a:t>
            </a:r>
            <a:r>
              <a:rPr lang="en-IN" sz="1600" i="1" dirty="0" err="1">
                <a:solidFill>
                  <a:srgbClr val="002060"/>
                </a:solidFill>
                <a:latin typeface="Times New Roman"/>
                <a:cs typeface="Times New Roman"/>
              </a:rPr>
              <a:t>entor</a:t>
            </a:r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 Name: </a:t>
            </a:r>
            <a:r>
              <a:rPr lang="en-IN" sz="1600" i="1" dirty="0" err="1">
                <a:solidFill>
                  <a:srgbClr val="002060"/>
                </a:solidFill>
                <a:latin typeface="Times New Roman"/>
                <a:cs typeface="Times New Roman"/>
              </a:rPr>
              <a:t>Palwinder</a:t>
            </a:r>
            <a:r>
              <a:rPr lang="en-IN" sz="1600" i="1" dirty="0">
                <a:solidFill>
                  <a:srgbClr val="002060"/>
                </a:solidFill>
                <a:latin typeface="Times New Roman"/>
                <a:cs typeface="Times New Roman"/>
              </a:rPr>
              <a:t> Singh Sir</a:t>
            </a:r>
            <a:endParaRPr lang="en-IN" sz="1600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2060"/>
              </a:solidFill>
            </a:endParaRPr>
          </a:p>
          <a:p>
            <a:endParaRPr lang="en-IN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684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245A-691C-D12E-AB45-1FE81D4A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26F9D8-5390-EBFF-D1C6-1E8BFA87A1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293" y="845438"/>
            <a:ext cx="6123812" cy="649473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5240">
              <a:spcBef>
                <a:spcPts val="105"/>
              </a:spcBef>
            </a:pPr>
            <a:r>
              <a:rPr lang="en-IN" spc="-10">
                <a:solidFill>
                  <a:srgbClr val="001F5F"/>
                </a:solidFill>
              </a:rPr>
              <a:t>Project Objectives</a:t>
            </a:r>
            <a:br>
              <a:rPr lang="en-IN"/>
            </a:br>
            <a:endParaRPr 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4BEAD1C-D4EE-217C-7DA3-DC537039DFC5}"/>
              </a:ext>
            </a:extLst>
          </p:cNvPr>
          <p:cNvSpPr txBox="1"/>
          <p:nvPr/>
        </p:nvSpPr>
        <p:spPr>
          <a:xfrm>
            <a:off x="485343" y="1443981"/>
            <a:ext cx="5610657" cy="369331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Problem Statement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Project Overview – Introduction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End Users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Wow Factor in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Modelling/Block Diagram/Flow of Project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Result/outcomes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Conclusion</a:t>
            </a:r>
          </a:p>
          <a:p>
            <a:pPr marL="283464" indent="-283464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lang="en-US">
                <a:latin typeface="Arial"/>
                <a:cs typeface="Arial"/>
              </a:rPr>
              <a:t>Future Perspective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>
              <a:latin typeface="Arial"/>
              <a:cs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507D05-4C0A-0699-FEB2-7D8F6FBD6994}"/>
              </a:ext>
            </a:extLst>
          </p:cNvPr>
          <p:cNvGrpSpPr/>
          <p:nvPr/>
        </p:nvGrpSpPr>
        <p:grpSpPr>
          <a:xfrm>
            <a:off x="6494689" y="1447800"/>
            <a:ext cx="5439319" cy="3480707"/>
            <a:chOff x="4572000" y="1352550"/>
            <a:chExt cx="3916680" cy="2506346"/>
          </a:xfrm>
        </p:grpSpPr>
        <p:pic>
          <p:nvPicPr>
            <p:cNvPr id="13" name="Picture 12" descr="A group of icons with graphs and charts&#10;&#10;AI-generated content may be incorrect.">
              <a:extLst>
                <a:ext uri="{FF2B5EF4-FFF2-40B4-BE49-F238E27FC236}">
                  <a16:creationId xmlns:a16="http://schemas.microsoft.com/office/drawing/2014/main" id="{C2D4920E-4971-AD6E-FEFA-F52546153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1352550"/>
              <a:ext cx="2258483" cy="1383030"/>
            </a:xfrm>
            <a:prstGeom prst="rect">
              <a:avLst/>
            </a:prstGeom>
          </p:spPr>
        </p:pic>
        <p:pic>
          <p:nvPicPr>
            <p:cNvPr id="14" name="Picture 13" descr="A blue arrow hitting a yellow and white target&#10;&#10;AI-generated content may be incorrect.">
              <a:extLst>
                <a:ext uri="{FF2B5EF4-FFF2-40B4-BE49-F238E27FC236}">
                  <a16:creationId xmlns:a16="http://schemas.microsoft.com/office/drawing/2014/main" id="{D6C15AD9-CCF7-5E54-7691-52E46C42C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5180" y="2052032"/>
              <a:ext cx="2343500" cy="1806864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18905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4A578-3B67-4E25-AD15-AC015FCB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5F6041-A892-0BCB-55B1-A8BFBC7B38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Problem Statement</a:t>
            </a:r>
            <a:br>
              <a:rPr lang="en-IN" sz="2000" b="1" dirty="0">
                <a:solidFill>
                  <a:srgbClr val="213163"/>
                </a:solidFill>
              </a:rPr>
            </a:br>
            <a:br>
              <a:rPr lang="en-IN" sz="2000" b="1" dirty="0">
                <a:solidFill>
                  <a:srgbClr val="213163"/>
                </a:solidFill>
              </a:rPr>
            </a:br>
            <a:endParaRPr lang="en-US" sz="2000" b="1" dirty="0">
              <a:solidFill>
                <a:srgbClr val="21316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1C2EE-E682-AE3D-4EF9-B44DCDB8B198}"/>
              </a:ext>
            </a:extLst>
          </p:cNvPr>
          <p:cNvSpPr txBox="1"/>
          <p:nvPr/>
        </p:nvSpPr>
        <p:spPr>
          <a:xfrm>
            <a:off x="796413" y="1553497"/>
            <a:ext cx="99305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Many organizations receive a large number of job applications, making it difficult and time-consuming for HR teams to manually review each resume. This manual screening process often leads to delays, human bias, and inefficiencies in identifying the most suitable candidates.</a:t>
            </a:r>
          </a:p>
          <a:p>
            <a:endParaRPr lang="en-US" dirty="0"/>
          </a:p>
          <a:p>
            <a:r>
              <a:rPr lang="en-US" dirty="0"/>
              <a:t>There is a need for an automated system that can quickly analyze candidate resumes, evaluate their qualifications and skills, and shortlist candidates based on objective criteria.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8" name="Picture 7" descr="Several hands pointing at the word&#10;&#10;AI-generated content may be incorrect.">
            <a:extLst>
              <a:ext uri="{FF2B5EF4-FFF2-40B4-BE49-F238E27FC236}">
                <a16:creationId xmlns:a16="http://schemas.microsoft.com/office/drawing/2014/main" id="{D6D30961-88D7-560A-6CF8-EA905753A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920181" y="3661923"/>
            <a:ext cx="6440129" cy="3019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0A1B9B-4049-4DBE-72C4-3CA97C6E8AE3}"/>
              </a:ext>
            </a:extLst>
          </p:cNvPr>
          <p:cNvSpPr txBox="1"/>
          <p:nvPr/>
        </p:nvSpPr>
        <p:spPr>
          <a:xfrm>
            <a:off x="2094271" y="6681787"/>
            <a:ext cx="88737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www.flickr.com/photos/143106192@N03/29307455687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/3.0/"/>
              </a:rPr>
              <a:t>CC BY</a:t>
            </a:r>
            <a:endParaRPr lang="en-IN" sz="9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75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3E36-C889-6CAE-02F7-A18A8F82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19EE50-E52E-5394-C0FF-8E0F05CC60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>
                <a:solidFill>
                  <a:srgbClr val="213163"/>
                </a:solidFill>
              </a:rPr>
              <a:t>Project overview - Introduction</a:t>
            </a:r>
            <a:endParaRPr lang="en-US" sz="2000" b="1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B07E3F00-B8A1-E3E6-46F3-9CBDC445523A}"/>
              </a:ext>
            </a:extLst>
          </p:cNvPr>
          <p:cNvSpPr txBox="1"/>
          <p:nvPr/>
        </p:nvSpPr>
        <p:spPr>
          <a:xfrm>
            <a:off x="390525" y="1602658"/>
            <a:ext cx="7498509" cy="276998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The system is an AI-based recruitment solution that automates resume screening and candidate shortlisting.</a:t>
            </a:r>
          </a:p>
          <a:p>
            <a:r>
              <a:rPr lang="en-US" dirty="0"/>
              <a:t>Using </a:t>
            </a:r>
            <a:r>
              <a:rPr lang="en-US" b="1" dirty="0"/>
              <a:t>n8n</a:t>
            </a:r>
            <a:r>
              <a:rPr lang="en-US" dirty="0"/>
              <a:t>, the workflow collects candidate data, analyzes resumes with the </a:t>
            </a:r>
            <a:r>
              <a:rPr lang="en-US" b="1" dirty="0"/>
              <a:t>Google Gemini AI model</a:t>
            </a:r>
            <a:r>
              <a:rPr lang="en-US" dirty="0"/>
              <a:t>, and generates a score based on skills, education, and experience.</a:t>
            </a:r>
          </a:p>
          <a:p>
            <a:r>
              <a:rPr lang="en-US" dirty="0"/>
              <a:t>Candidates are automatically classified as </a:t>
            </a:r>
            <a:r>
              <a:rPr lang="en-US" b="1" dirty="0"/>
              <a:t>Shortlisted or Rejected</a:t>
            </a:r>
            <a:r>
              <a:rPr lang="en-US" dirty="0"/>
              <a:t>, and email notifications are sent using the Gmail node.</a:t>
            </a:r>
          </a:p>
          <a:p>
            <a:r>
              <a:rPr lang="en-US" dirty="0"/>
              <a:t>All data is stored in </a:t>
            </a:r>
            <a:r>
              <a:rPr lang="en-US" b="1" dirty="0"/>
              <a:t>Google Sheets</a:t>
            </a:r>
            <a:r>
              <a:rPr lang="en-US" dirty="0"/>
              <a:t> and visualized through an </a:t>
            </a:r>
            <a:r>
              <a:rPr lang="en-US" b="1" dirty="0" err="1"/>
              <a:t>AppSheet</a:t>
            </a:r>
            <a:r>
              <a:rPr lang="en-US" b="1" dirty="0"/>
              <a:t> dashboard</a:t>
            </a:r>
            <a:r>
              <a:rPr lang="en-US" dirty="0"/>
              <a:t>, enabling efficient and unbiased hiring.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  <p:pic>
        <p:nvPicPr>
          <p:cNvPr id="5" name="Picture 4" descr="A person sitting at a table with a paper in her hand&#10;&#10;AI-generated content may be incorrect.">
            <a:extLst>
              <a:ext uri="{FF2B5EF4-FFF2-40B4-BE49-F238E27FC236}">
                <a16:creationId xmlns:a16="http://schemas.microsoft.com/office/drawing/2014/main" id="{CAA48860-B974-BA08-2597-A3EA712045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89033" y="3613354"/>
            <a:ext cx="4302967" cy="32446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9174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CB28-E1BC-9383-90D6-1F93714F2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931B7F-A4E2-1DA5-2BAF-AB2F7EB3A4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>
                <a:solidFill>
                  <a:srgbClr val="213163"/>
                </a:solidFill>
              </a:rPr>
              <a:t>End User</a:t>
            </a:r>
            <a:endParaRPr lang="en-US" sz="2000" b="1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938976A-48BF-02EA-7BFA-5075C8725DD1}"/>
              </a:ext>
            </a:extLst>
          </p:cNvPr>
          <p:cNvSpPr txBox="1"/>
          <p:nvPr/>
        </p:nvSpPr>
        <p:spPr>
          <a:xfrm>
            <a:off x="485343" y="1443981"/>
            <a:ext cx="7199508" cy="355994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applicants (indirect beneficiaries)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 Managers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Recruiters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conducting bulk hiring</a:t>
            </a: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/>
            </a:endParaRPr>
          </a:p>
          <a:p>
            <a:pPr algn="l" rtl="0">
              <a:buClr>
                <a:srgbClr val="000000"/>
              </a:buClr>
              <a:buFont typeface="Arial"/>
            </a:pPr>
            <a:r>
              <a:rPr lang="en-IN" sz="2000" b="1" dirty="0">
                <a:solidFill>
                  <a:srgbClr val="213163"/>
                </a:solidFill>
                <a:latin typeface="Arial"/>
                <a:cs typeface="Arial"/>
                <a:sym typeface="Arial"/>
              </a:rPr>
              <a:t>TECHNOLOGY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Workflow Automation: n8n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Artificial Intelligence: Google Gemini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Database/Storage: Google Sheets and Google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Email Automation: Gmail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  <p:pic>
        <p:nvPicPr>
          <p:cNvPr id="5" name="Picture 4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DA888FB7-93C3-CC95-67B8-AD5FF72DAA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521677" y="3298051"/>
            <a:ext cx="4592340" cy="3559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9DE1C2-CDB5-DC00-7C9E-1DA0116529E5}"/>
              </a:ext>
            </a:extLst>
          </p:cNvPr>
          <p:cNvSpPr txBox="1"/>
          <p:nvPr/>
        </p:nvSpPr>
        <p:spPr>
          <a:xfrm>
            <a:off x="7521677" y="6858000"/>
            <a:ext cx="45923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5" tooltip="https://www.bayjoinery.com/benefits-of-hiring-a-recruiting-agency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6" tooltip="https://creativecommons.org/licenses/by/3.0/"/>
              </a:rPr>
              <a:t>CC BY</a:t>
            </a:r>
            <a:endParaRPr lang="en-IN" sz="9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25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0328-9DEC-91B4-3E4D-19BF7239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73B39E-642F-E67D-C1F9-30D3693DA4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Wow factor</a:t>
            </a:r>
            <a:br>
              <a:rPr lang="en-IN" sz="2000" b="1" dirty="0">
                <a:solidFill>
                  <a:srgbClr val="213163"/>
                </a:solidFill>
              </a:rPr>
            </a:br>
            <a:br>
              <a:rPr lang="en-IN" sz="2000" b="1" dirty="0">
                <a:solidFill>
                  <a:srgbClr val="213163"/>
                </a:solidFill>
              </a:rPr>
            </a:br>
            <a:endParaRPr lang="en-US" sz="20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59BBA-E5B7-60B7-C627-1680AEC98D03}"/>
              </a:ext>
            </a:extLst>
          </p:cNvPr>
          <p:cNvSpPr txBox="1"/>
          <p:nvPr/>
        </p:nvSpPr>
        <p:spPr>
          <a:xfrm>
            <a:off x="619432" y="1671484"/>
            <a:ext cx="100190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End-to-End Automation – Entire recruitment process from resume upload to shortlisting is fully automated using n8n.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AI-Powered Resume Analysis – Uses Google Gemini to intelligently analyze resumes and extract key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Instant Candidate Scoring – Generates AI-based scores in seconds, eliminating manual screening effort.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Smart Shortlisting – Automatically classifies candidates as shortlisted or rejected using predefined logic.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Automated Communication – Sends real-time email notifications to both candidates and HR.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Live HR Dashboard – </a:t>
            </a:r>
            <a:r>
              <a:rPr lang="en-US" dirty="0" err="1"/>
              <a:t>AppSheet</a:t>
            </a:r>
            <a:r>
              <a:rPr lang="en-US" dirty="0"/>
              <a:t> dashboard for real-time tracking, filtering, and management of candidates.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Time-Saving &amp; Scalable – Reduces hiring time drastically and can handle multiple candidates efficiently.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Unbiased Evaluation – AI-driven decisions reduce human bias in resume screening. </a:t>
            </a:r>
          </a:p>
          <a:p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8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01452-FA8D-AA15-4D87-4F0202D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422110-826C-E4F6-C918-6761F34D0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Modelling – ACTIVITY DIAGRAM</a:t>
            </a:r>
            <a:endParaRPr lang="en-US" sz="2000" b="1" dirty="0">
              <a:solidFill>
                <a:srgbClr val="213163"/>
              </a:solidFill>
            </a:endParaRPr>
          </a:p>
        </p:txBody>
      </p:sp>
      <p:pic>
        <p:nvPicPr>
          <p:cNvPr id="5" name="Picture 4" descr="A flowchart of a job&#10;&#10;AI-generated content may be incorrect.">
            <a:extLst>
              <a:ext uri="{FF2B5EF4-FFF2-40B4-BE49-F238E27FC236}">
                <a16:creationId xmlns:a16="http://schemas.microsoft.com/office/drawing/2014/main" id="{9027D34C-C54B-7EE9-34BC-E62A5A55D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018" y="711200"/>
            <a:ext cx="4677862" cy="61468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32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6CA-7EF4-D794-8356-B220A245D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FABD4-7DC8-378D-DE0F-D1EE5042A4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Result / Outcomes</a:t>
            </a:r>
            <a:endParaRPr lang="en-US" sz="20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FD88F72F-9CDB-BA74-F623-E56EFFA44E46}"/>
              </a:ext>
            </a:extLst>
          </p:cNvPr>
          <p:cNvSpPr txBox="1"/>
          <p:nvPr/>
        </p:nvSpPr>
        <p:spPr>
          <a:xfrm>
            <a:off x="485342" y="1443981"/>
            <a:ext cx="8313217" cy="408316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Successfully automated the resume screening and shortlisting process using n8n.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manual effort required by HR for initial candidate evaluation.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Achieved faster candidate processing with AI-based resume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Generated accurate and consistent candidate scoring using Google Gemini AI.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Enabled automatic classification of candidates into shortlisted and rejected categories.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Implemented real-time email notifications for both candidates and HR.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Stored and managed candidate data efficiently using Google Sheets.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a HR dashboard using </a:t>
            </a:r>
            <a:r>
              <a:rPr lang="en-US" dirty="0" err="1"/>
              <a:t>AppSheet</a:t>
            </a:r>
            <a:r>
              <a:rPr lang="en-US" dirty="0"/>
              <a:t> for easy monitoring and filtering.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efficiency, scalability, and consistency in the recruitment process. 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r>
              <a:rPr lang="en-IN" dirty="0">
                <a:latin typeface="Arial"/>
                <a:cs typeface="Arial"/>
              </a:rPr>
              <a:t>​</a:t>
            </a:r>
          </a:p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lang="en-IN" dirty="0">
              <a:latin typeface="Arial"/>
              <a:cs typeface="Arial"/>
            </a:endParaRPr>
          </a:p>
          <a:p>
            <a:pPr marL="283464" indent="-283464" algn="l">
              <a:spcAft>
                <a:spcPts val="800"/>
              </a:spcAft>
              <a:buSzPct val="100000"/>
              <a:buChar char="•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69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8077044-2447-F20F-732E-F59B0876B1BE}"/>
              </a:ext>
            </a:extLst>
          </p:cNvPr>
          <p:cNvSpPr txBox="1"/>
          <p:nvPr/>
        </p:nvSpPr>
        <p:spPr>
          <a:xfrm>
            <a:off x="393206" y="812164"/>
            <a:ext cx="590409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  <a:latin typeface="+mj-lt"/>
              </a:rPr>
              <a:t>Conclusion</a:t>
            </a: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  <a:p>
            <a:endParaRPr lang="en-IN" sz="2000" b="1" dirty="0">
              <a:solidFill>
                <a:srgbClr val="213163"/>
              </a:solidFill>
              <a:latin typeface="+mj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6B000-237D-0FED-3FF0-5FE978FF8E88}"/>
              </a:ext>
            </a:extLst>
          </p:cNvPr>
          <p:cNvGrpSpPr/>
          <p:nvPr/>
        </p:nvGrpSpPr>
        <p:grpSpPr>
          <a:xfrm>
            <a:off x="6877050" y="1485900"/>
            <a:ext cx="5200650" cy="3743899"/>
            <a:chOff x="6226629" y="1485900"/>
            <a:chExt cx="5965371" cy="4294414"/>
          </a:xfrm>
        </p:grpSpPr>
        <p:pic>
          <p:nvPicPr>
            <p:cNvPr id="3" name="Picture 2" descr="A hand touching a magnifying glass over a clipboard&#10;&#10;AI-generated content may be incorrect.">
              <a:extLst>
                <a:ext uri="{FF2B5EF4-FFF2-40B4-BE49-F238E27FC236}">
                  <a16:creationId xmlns:a16="http://schemas.microsoft.com/office/drawing/2014/main" id="{D2150545-F4E6-B1E8-2BA5-178321AE9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183"/>
            <a:stretch/>
          </p:blipFill>
          <p:spPr>
            <a:xfrm>
              <a:off x="6400207" y="1485900"/>
              <a:ext cx="5448944" cy="4283529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3498800-1547-FF45-1083-10EDB6755288}"/>
                </a:ext>
              </a:extLst>
            </p:cNvPr>
            <p:cNvCxnSpPr/>
            <p:nvPr/>
          </p:nvCxnSpPr>
          <p:spPr>
            <a:xfrm>
              <a:off x="6226629" y="5780314"/>
              <a:ext cx="596537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898C442-216F-0AFF-7F38-7D870EA0918B}"/>
              </a:ext>
            </a:extLst>
          </p:cNvPr>
          <p:cNvGrpSpPr/>
          <p:nvPr/>
        </p:nvGrpSpPr>
        <p:grpSpPr>
          <a:xfrm>
            <a:off x="-19050" y="6076948"/>
            <a:ext cx="12220575" cy="556903"/>
            <a:chOff x="-19050" y="6076948"/>
            <a:chExt cx="12220575" cy="55690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386A49-2AFF-C581-4F70-D6CF61537C07}"/>
                </a:ext>
              </a:extLst>
            </p:cNvPr>
            <p:cNvSpPr txBox="1"/>
            <p:nvPr/>
          </p:nvSpPr>
          <p:spPr>
            <a:xfrm>
              <a:off x="397378" y="6372241"/>
              <a:ext cx="10646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>
                  <a:solidFill>
                    <a:srgbClr val="3333F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https://www.freepik.com/</a:t>
              </a:r>
              <a:endParaRPr lang="en-US" sz="110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2C3D488-31F2-374D-B1E9-85C3F7A3279B}"/>
                </a:ext>
              </a:extLst>
            </p:cNvPr>
            <p:cNvGrpSpPr/>
            <p:nvPr/>
          </p:nvGrpSpPr>
          <p:grpSpPr>
            <a:xfrm>
              <a:off x="-19050" y="6076948"/>
              <a:ext cx="12220575" cy="307777"/>
              <a:chOff x="-19050" y="6076948"/>
              <a:chExt cx="12220575" cy="30777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95B5C3-B614-18BE-1656-AF0EE581E443}"/>
                  </a:ext>
                </a:extLst>
              </p:cNvPr>
              <p:cNvSpPr txBox="1"/>
              <p:nvPr/>
            </p:nvSpPr>
            <p:spPr>
              <a:xfrm>
                <a:off x="5704996" y="6076948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b="1"/>
                  <a:t>Source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994F08D-DCBE-2424-B4B5-ADEDA76E75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6726" y="6229350"/>
                <a:ext cx="5694799" cy="14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8BF57D1-795B-C082-EBF5-FAD686110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050" y="6229350"/>
                <a:ext cx="565785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6146654C-2792-5EF0-7EF3-2E5E42076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06" y="788269"/>
            <a:ext cx="5125121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AI-based resume screening system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and more efficient hiring process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effort and bias </a:t>
            </a:r>
          </a:p>
          <a:p>
            <a:pPr lvl="1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data management and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solution for modern recruitment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25FE-D71F-ADEB-C5B8-82E97073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E9217-CBBF-B96E-4814-1E879FAE64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0525" y="814388"/>
            <a:ext cx="6011863" cy="373062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IN" sz="2000" b="1" dirty="0">
                <a:solidFill>
                  <a:srgbClr val="213163"/>
                </a:solidFill>
              </a:rPr>
              <a:t>Future Perspective</a:t>
            </a:r>
            <a:endParaRPr lang="en-US" sz="2000" b="1" dirty="0">
              <a:solidFill>
                <a:srgbClr val="213163"/>
              </a:solidFill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E60DEBBB-AD2B-766E-32FE-AB5BCF243F01}"/>
              </a:ext>
            </a:extLst>
          </p:cNvPr>
          <p:cNvSpPr txBox="1"/>
          <p:nvPr/>
        </p:nvSpPr>
        <p:spPr>
          <a:xfrm>
            <a:off x="485342" y="1443981"/>
            <a:ext cx="7616935" cy="375305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l">
              <a:spcAft>
                <a:spcPts val="800"/>
              </a:spcAft>
              <a:buSzPct val="100000"/>
              <a:tabLst>
                <a:tab pos="299085" algn="l"/>
              </a:tabLst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ABE0A-1288-7397-2E20-0B0AAD283963}"/>
              </a:ext>
            </a:extLst>
          </p:cNvPr>
          <p:cNvSpPr txBox="1"/>
          <p:nvPr/>
        </p:nvSpPr>
        <p:spPr>
          <a:xfrm>
            <a:off x="485342" y="1443981"/>
            <a:ext cx="93994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Extend to full recruitment lifecycle, from onboarding to final interview scheduling using Cal.com.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an AI voice agent for candidate interaction, initial screening, and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multi-round interview management (technical &amp; HR) with automated tracking.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Introduce JD vs Resume matching score for better evaluation.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 candidate ranking system to highlight top candidates.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calendar scheduling with automated interview invites and reminders.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an advanced analytics dashboard (selection rate, hiring trends, performance metrics).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 WhatsApp/SMS notifications for faster communication.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role-based access control for HR teams and recruiters.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AI with custom scoring models based on job roles.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  <a:p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2943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8499-1BD1-CB32-EC72-71FC8064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317D2-0E71-2010-BCA0-C42B048F4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REFERENCES:</a:t>
            </a:r>
          </a:p>
          <a:p>
            <a:r>
              <a:rPr lang="en-IN" dirty="0"/>
              <a:t>     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0D3DBF-47CD-E0F3-E2D3-6766341EC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95" y="22802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API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n8n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AppSheet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Sheets Integration Guide </a:t>
            </a:r>
          </a:p>
        </p:txBody>
      </p:sp>
    </p:spTree>
    <p:extLst>
      <p:ext uri="{BB962C8B-B14F-4D97-AF65-F5344CB8AC3E}">
        <p14:creationId xmlns:p14="http://schemas.microsoft.com/office/powerpoint/2010/main" val="3775684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61;g5fab984687_2_0">
            <a:extLst>
              <a:ext uri="{FF2B5EF4-FFF2-40B4-BE49-F238E27FC236}">
                <a16:creationId xmlns:a16="http://schemas.microsoft.com/office/drawing/2014/main" id="{56731104-94CD-C847-F7D6-086A88BE5722}"/>
              </a:ext>
            </a:extLst>
          </p:cNvPr>
          <p:cNvSpPr txBox="1">
            <a:spLocks/>
          </p:cNvSpPr>
          <p:nvPr/>
        </p:nvSpPr>
        <p:spPr>
          <a:xfrm>
            <a:off x="4315206" y="29859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>
                <a:solidFill>
                  <a:srgbClr val="213163"/>
                </a:solidFill>
              </a:rPr>
              <a:t>Thank You</a:t>
            </a:r>
            <a:endParaRPr lang="en-US" sz="50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SIMPLE LIGHT" val="AC31ARkz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1329</Words>
  <Application>Microsoft Office PowerPoint</Application>
  <PresentationFormat>Widescreen</PresentationFormat>
  <Paragraphs>211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Times New Roman</vt:lpstr>
      <vt:lpstr>Simple Light</vt:lpstr>
      <vt:lpstr>PowerPoint Presentation</vt:lpstr>
      <vt:lpstr>Project Objectives </vt:lpstr>
      <vt:lpstr>Problem Statement  </vt:lpstr>
      <vt:lpstr>Project overview - Introduction</vt:lpstr>
      <vt:lpstr>End User</vt:lpstr>
      <vt:lpstr>Wow factor  </vt:lpstr>
      <vt:lpstr>Modelling – ACTIVITY DIAGRAM</vt:lpstr>
      <vt:lpstr>Result / Outcomes</vt:lpstr>
      <vt:lpstr>PowerPoint Presentation</vt:lpstr>
      <vt:lpstr>Future Perspective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slide</dc:title>
  <dc:creator>Mohd Kaisar</dc:creator>
  <cp:lastModifiedBy>Mahesh Kumawat</cp:lastModifiedBy>
  <cp:revision>3</cp:revision>
  <dcterms:created xsi:type="dcterms:W3CDTF">2024-06-24T09:04:39Z</dcterms:created>
  <dcterms:modified xsi:type="dcterms:W3CDTF">2026-03-22T14:30:29Z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2024-06-24T00:00:00Z</vt:filetime>
  </property>
  <property fmtid="{D5CDD505-2E9C-101B-9397-08002B2CF9AE}" pid="5" name="Producer">
    <vt:lpwstr>Microsoft® PowerPoint® 2021</vt:lpwstr>
  </property>
  <property fmtid="{D5CDD505-2E9C-101B-9397-08002B2CF9AE}" pid="6" name="ArticulateGUID">
    <vt:lpwstr>FA72309D-1D09-49B1-8354-C196AEFF1A13</vt:lpwstr>
  </property>
  <property fmtid="{D5CDD505-2E9C-101B-9397-08002B2CF9AE}" pid="7" name="ArticulatePath">
    <vt:lpwstr>https://edunetfoundationorg-my.sharepoint.com/personal/kaisar_edunetfoundation_org/Documents/Beutified ppt/Code Unnati/Sample 2025/PPT Design Template</vt:lpwstr>
  </property>
</Properties>
</file>